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2"/>
  </p:normalViewPr>
  <p:slideViewPr>
    <p:cSldViewPr snapToGrid="0">
      <p:cViewPr>
        <p:scale>
          <a:sx n="101" d="100"/>
          <a:sy n="101" d="100"/>
        </p:scale>
        <p:origin x="119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1885D-5668-EB07-4A34-13DDE4940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Part 3: Application Enhancement &amp; Automation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82DF7-8C9D-8F65-C80D-96FA24C3CA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Student Number: ST10440112</a:t>
            </a:r>
          </a:p>
          <a:p>
            <a:r>
              <a:rPr lang="en-ZA" dirty="0"/>
              <a:t>Module: PROG6212</a:t>
            </a:r>
          </a:p>
          <a:p>
            <a:r>
              <a:rPr lang="en-ZA" dirty="0"/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2566179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7A14B-A14F-BC99-A3D3-5A628648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US" sz="3000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8544C-232C-1DE7-890B-814E41402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38518"/>
            <a:ext cx="9905999" cy="445268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ZA" dirty="0"/>
              <a:t>1. Part 2 to Part 3 Changes Overview</a:t>
            </a:r>
          </a:p>
          <a:p>
            <a:pPr marL="0" indent="0">
              <a:buNone/>
            </a:pPr>
            <a:r>
              <a:rPr lang="en-ZA" dirty="0"/>
              <a:t>2. Feedback Implementation Summary</a:t>
            </a:r>
          </a:p>
          <a:p>
            <a:pPr marL="0" indent="0">
              <a:buNone/>
            </a:pPr>
            <a:r>
              <a:rPr lang="en-ZA" dirty="0"/>
              <a:t>3. Lecturer View - Claim Submission Automation</a:t>
            </a:r>
          </a:p>
          <a:p>
            <a:pPr marL="0" indent="0">
              <a:buNone/>
            </a:pPr>
            <a:r>
              <a:rPr lang="en-ZA" dirty="0"/>
              <a:t>4. Coordinator &amp; Manager View - Verification/Approval Workflow</a:t>
            </a:r>
          </a:p>
          <a:p>
            <a:pPr marL="0" indent="0">
              <a:buNone/>
            </a:pPr>
            <a:r>
              <a:rPr lang="en-ZA" dirty="0"/>
              <a:t>5. HR View - User Management &amp; Reporting</a:t>
            </a:r>
          </a:p>
          <a:p>
            <a:pPr marL="0" indent="0">
              <a:buNone/>
            </a:pPr>
            <a:r>
              <a:rPr lang="en-ZA" dirty="0"/>
              <a:t>6. Session Management &amp; Access Control</a:t>
            </a:r>
          </a:p>
          <a:p>
            <a:pPr marL="0" indent="0">
              <a:buNone/>
            </a:pPr>
            <a:r>
              <a:rPr lang="en-ZA" dirty="0"/>
              <a:t>7. Document Encryption Security</a:t>
            </a:r>
          </a:p>
          <a:p>
            <a:pPr marL="0" indent="0">
              <a:buNone/>
            </a:pPr>
            <a:r>
              <a:rPr lang="en-ZA" dirty="0"/>
              <a:t>8. Error Handling Improvements</a:t>
            </a:r>
          </a:p>
          <a:p>
            <a:pPr marL="0" indent="0">
              <a:buNone/>
            </a:pPr>
            <a:r>
              <a:rPr lang="en-ZA" dirty="0"/>
              <a:t>9. Validation System</a:t>
            </a:r>
          </a:p>
          <a:p>
            <a:pPr marL="0" indent="0">
              <a:buNone/>
            </a:pPr>
            <a:r>
              <a:rPr lang="en-ZA" dirty="0"/>
              <a:t>10. Live Demo / Key Screenshots</a:t>
            </a:r>
          </a:p>
          <a:p>
            <a:pPr marL="0" indent="0">
              <a:buNone/>
            </a:pPr>
            <a:r>
              <a:rPr lang="en-ZA" dirty="0"/>
              <a:t>11. Conclusion</a:t>
            </a:r>
          </a:p>
        </p:txBody>
      </p:sp>
    </p:spTree>
    <p:extLst>
      <p:ext uri="{BB962C8B-B14F-4D97-AF65-F5344CB8AC3E}">
        <p14:creationId xmlns:p14="http://schemas.microsoft.com/office/powerpoint/2010/main" val="203974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B0A4D-134E-E778-B2C7-DF68AD022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ZA" sz="3000" b="1" dirty="0"/>
              <a:t>Part 2 to Part 3 - What Changed?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2A8CA-5A55-DFB8-2750-0CDC11D0F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338519"/>
            <a:ext cx="4878389" cy="4452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1700" b="1" dirty="0"/>
              <a:t>Part 2 Features (Existing)</a:t>
            </a:r>
            <a:endParaRPr lang="en-ZA" sz="1700" dirty="0"/>
          </a:p>
          <a:p>
            <a:pPr marL="0" indent="0">
              <a:buNone/>
            </a:pPr>
            <a:r>
              <a:rPr lang="en-ZA" sz="1700" dirty="0"/>
              <a:t>- Basic claim submission</a:t>
            </a:r>
          </a:p>
          <a:p>
            <a:pPr marL="0" indent="0">
              <a:buNone/>
            </a:pPr>
            <a:r>
              <a:rPr lang="en-ZA" sz="1700" dirty="0"/>
              <a:t>- Simple approval workflow</a:t>
            </a:r>
          </a:p>
          <a:p>
            <a:pPr marL="0" indent="0">
              <a:buNone/>
            </a:pPr>
            <a:r>
              <a:rPr lang="en-ZA" sz="1700" dirty="0"/>
              <a:t>- Document uploads (no encryption)</a:t>
            </a:r>
          </a:p>
          <a:p>
            <a:pPr marL="0" indent="0">
              <a:buNone/>
            </a:pPr>
            <a:r>
              <a:rPr lang="en-ZA" sz="1700" dirty="0"/>
              <a:t>- Limited error handling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C9311-E121-EEEF-FC19-A89A10A8D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6205"/>
            <a:ext cx="4875211" cy="43749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1600" b="1" dirty="0"/>
              <a:t>Part 3 Enhancements (New)</a:t>
            </a:r>
            <a:endParaRPr lang="en-ZA" sz="1600" dirty="0"/>
          </a:p>
          <a:p>
            <a:pPr marL="0" indent="0">
              <a:buNone/>
            </a:pPr>
            <a:r>
              <a:rPr lang="en-ZA" sz="1600" dirty="0"/>
              <a:t>-  ASP.NET Core Identity authentication</a:t>
            </a:r>
          </a:p>
          <a:p>
            <a:pPr marL="0" indent="0">
              <a:buNone/>
            </a:pPr>
            <a:r>
              <a:rPr lang="en-ZA" sz="1600" dirty="0"/>
              <a:t>-  HR role with user management</a:t>
            </a:r>
          </a:p>
          <a:p>
            <a:pPr marL="0" indent="0">
              <a:buNone/>
            </a:pPr>
            <a:r>
              <a:rPr lang="en-ZA" sz="1600" dirty="0"/>
              <a:t>-  Automated hourly rate (HR-managed)</a:t>
            </a:r>
          </a:p>
          <a:p>
            <a:pPr marL="0" indent="0">
              <a:buNone/>
            </a:pPr>
            <a:r>
              <a:rPr lang="en-ZA" sz="1600" dirty="0"/>
              <a:t>-  Auto-calculation (Hours × Rate)</a:t>
            </a:r>
          </a:p>
          <a:p>
            <a:pPr marL="0" indent="0">
              <a:buNone/>
            </a:pPr>
            <a:r>
              <a:rPr lang="en-ZA" sz="1600" dirty="0"/>
              <a:t>-  Two-stage approval workflow (Coordinator → Manager)</a:t>
            </a:r>
          </a:p>
          <a:p>
            <a:pPr marL="0" indent="0">
              <a:buNone/>
            </a:pPr>
            <a:r>
              <a:rPr lang="en-ZA" sz="1600" dirty="0"/>
              <a:t>-  Invoice &amp; report generation</a:t>
            </a:r>
          </a:p>
          <a:p>
            <a:pPr marL="0" indent="0">
              <a:buNone/>
            </a:pPr>
            <a:r>
              <a:rPr lang="en-ZA" sz="1600" dirty="0"/>
              <a:t>-  Session management &amp; access control</a:t>
            </a:r>
          </a:p>
          <a:p>
            <a:pPr marL="0" indent="0">
              <a:buNone/>
            </a:pPr>
            <a:r>
              <a:rPr lang="en-ZA" sz="1600" dirty="0"/>
              <a:t>-  AES-256 document encryption</a:t>
            </a:r>
          </a:p>
          <a:p>
            <a:pPr marL="0" indent="0">
              <a:buNone/>
            </a:pPr>
            <a:r>
              <a:rPr lang="en-ZA" sz="1600" dirty="0"/>
              <a:t>-  Circuit breaker error handling</a:t>
            </a:r>
          </a:p>
          <a:p>
            <a:pPr marL="0" indent="0">
              <a:buNone/>
            </a:pPr>
            <a:r>
              <a:rPr lang="en-ZA" sz="1600" dirty="0"/>
              <a:t>-  Comprehensive validation</a:t>
            </a:r>
          </a:p>
        </p:txBody>
      </p:sp>
    </p:spTree>
    <p:extLst>
      <p:ext uri="{BB962C8B-B14F-4D97-AF65-F5344CB8AC3E}">
        <p14:creationId xmlns:p14="http://schemas.microsoft.com/office/powerpoint/2010/main" val="385195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7BE5F2-7EE1-983A-B512-7810904A9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ZA" sz="3000" b="1" dirty="0"/>
              <a:t>Feedback  - Two-Stage Approval Workflow</a:t>
            </a:r>
            <a:endParaRPr lang="en-US" sz="3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9193EF-5D60-5EE4-3C91-9C7162112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338518"/>
            <a:ext cx="4878389" cy="52350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1600" b="1" dirty="0"/>
              <a:t> </a:t>
            </a:r>
            <a:r>
              <a:rPr lang="en-ZA" sz="1500" b="1" dirty="0"/>
              <a:t>Problem</a:t>
            </a:r>
            <a:endParaRPr lang="en-ZA" sz="1500" dirty="0"/>
          </a:p>
          <a:p>
            <a:pPr>
              <a:buFontTx/>
              <a:buChar char="-"/>
            </a:pPr>
            <a:r>
              <a:rPr lang="en-ZA" sz="1500" dirty="0"/>
              <a:t>Needed better separation between verification and approval stages.</a:t>
            </a:r>
          </a:p>
          <a:p>
            <a:pPr marL="0" indent="0">
              <a:buNone/>
            </a:pPr>
            <a:br>
              <a:rPr lang="en-ZA" sz="1500" dirty="0"/>
            </a:br>
            <a:r>
              <a:rPr lang="en-ZA" sz="1500" b="1" dirty="0"/>
              <a:t>Solution Implemented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Pending → Coordinator Verifies → Verified </a:t>
            </a:r>
          </a:p>
          <a:p>
            <a:pPr marL="0" indent="0">
              <a:buNone/>
            </a:pPr>
            <a:r>
              <a:rPr lang="en-ZA" sz="1500" dirty="0"/>
              <a:t>→ Manager Approves → Approved</a:t>
            </a:r>
          </a:p>
          <a:p>
            <a:pPr marL="0" indent="0">
              <a:buNone/>
            </a:pPr>
            <a:endParaRPr lang="en-ZA" sz="3200" dirty="0"/>
          </a:p>
          <a:p>
            <a:endParaRPr lang="en-US" sz="15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4A214CB-E486-CF4F-88D3-AD50BCBF0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4412" y="1338518"/>
            <a:ext cx="4875211" cy="52350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1500" b="1" dirty="0"/>
              <a:t>Key Code (</a:t>
            </a:r>
            <a:r>
              <a:rPr lang="en-ZA" sz="1500" b="1" dirty="0" err="1"/>
              <a:t>CoordinatorController.cs</a:t>
            </a:r>
            <a:r>
              <a:rPr lang="en-ZA" sz="1500" b="1" dirty="0"/>
              <a:t>)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var </a:t>
            </a:r>
            <a:r>
              <a:rPr lang="en-ZA" sz="1500" dirty="0" err="1"/>
              <a:t>pendingClaims</a:t>
            </a:r>
            <a:r>
              <a:rPr lang="en-ZA" sz="1500" dirty="0"/>
              <a:t> = await _</a:t>
            </a:r>
            <a:r>
              <a:rPr lang="en-ZA" sz="1500" dirty="0" err="1"/>
              <a:t>context.Claims</a:t>
            </a:r>
            <a:endParaRPr lang="en-ZA" sz="1500" dirty="0"/>
          </a:p>
          <a:p>
            <a:pPr marL="457200" lvl="1" indent="0">
              <a:buNone/>
            </a:pPr>
            <a:r>
              <a:rPr lang="en-ZA" sz="1500" dirty="0"/>
              <a:t>.Where(c =&gt; </a:t>
            </a:r>
            <a:r>
              <a:rPr lang="en-ZA" sz="1500" dirty="0" err="1"/>
              <a:t>c.ClaimStatus</a:t>
            </a:r>
            <a:r>
              <a:rPr lang="en-ZA" sz="1500" dirty="0"/>
              <a:t> == "Pending")</a:t>
            </a:r>
          </a:p>
          <a:p>
            <a:pPr marL="457200" lvl="1" indent="0">
              <a:buNone/>
            </a:pPr>
            <a:r>
              <a:rPr lang="en-ZA" sz="1500" dirty="0"/>
              <a:t>.Include(c =&gt; </a:t>
            </a:r>
            <a:r>
              <a:rPr lang="en-ZA" sz="1500" dirty="0" err="1"/>
              <a:t>c.Lecturer</a:t>
            </a:r>
            <a:r>
              <a:rPr lang="en-ZA" sz="1500" dirty="0"/>
              <a:t>)</a:t>
            </a:r>
          </a:p>
          <a:p>
            <a:pPr marL="457200" lvl="1" indent="0">
              <a:buNone/>
            </a:pPr>
            <a:r>
              <a:rPr lang="en-ZA" sz="1500" dirty="0"/>
              <a:t>.</a:t>
            </a:r>
            <a:r>
              <a:rPr lang="en-ZA" sz="1500" dirty="0" err="1"/>
              <a:t>ToListAsync</a:t>
            </a:r>
            <a:r>
              <a:rPr lang="en-ZA" sz="1500" dirty="0"/>
              <a:t>();</a:t>
            </a:r>
          </a:p>
          <a:p>
            <a:pPr marL="0" indent="0">
              <a:buNone/>
            </a:pPr>
            <a:br>
              <a:rPr lang="en-ZA" sz="1500" dirty="0"/>
            </a:br>
            <a:r>
              <a:rPr lang="en-ZA" sz="1500" b="1" dirty="0"/>
              <a:t>Key Code (</a:t>
            </a:r>
            <a:r>
              <a:rPr lang="en-ZA" sz="1500" b="1" dirty="0" err="1"/>
              <a:t>ManagerController.cs</a:t>
            </a:r>
            <a:r>
              <a:rPr lang="en-ZA" sz="1500" b="1" dirty="0"/>
              <a:t>)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// Manager only sees Verified claims</a:t>
            </a:r>
          </a:p>
          <a:p>
            <a:pPr marL="0" indent="0">
              <a:buNone/>
            </a:pPr>
            <a:r>
              <a:rPr lang="en-ZA" sz="1500" dirty="0"/>
              <a:t>var </a:t>
            </a:r>
            <a:r>
              <a:rPr lang="en-ZA" sz="1500" dirty="0" err="1"/>
              <a:t>verifiedClaims</a:t>
            </a:r>
            <a:r>
              <a:rPr lang="en-ZA" sz="1500" dirty="0"/>
              <a:t> = await _</a:t>
            </a:r>
            <a:r>
              <a:rPr lang="en-ZA" sz="1500" dirty="0" err="1"/>
              <a:t>context.Claims</a:t>
            </a:r>
            <a:endParaRPr lang="en-ZA" sz="1500" dirty="0"/>
          </a:p>
          <a:p>
            <a:pPr marL="457200" lvl="1" indent="0">
              <a:buNone/>
            </a:pPr>
            <a:r>
              <a:rPr lang="en-ZA" sz="1500" dirty="0"/>
              <a:t>.Where(c =&gt; </a:t>
            </a:r>
            <a:r>
              <a:rPr lang="en-ZA" sz="1500" dirty="0" err="1"/>
              <a:t>c.ClaimStatus</a:t>
            </a:r>
            <a:r>
              <a:rPr lang="en-ZA" sz="1500" dirty="0"/>
              <a:t> == "Verified")</a:t>
            </a:r>
          </a:p>
          <a:p>
            <a:pPr marL="457200" lvl="1" indent="0">
              <a:buNone/>
            </a:pPr>
            <a:r>
              <a:rPr lang="en-ZA" sz="1500" dirty="0"/>
              <a:t>.Include(c =&gt; </a:t>
            </a:r>
            <a:r>
              <a:rPr lang="en-ZA" sz="1500" dirty="0" err="1"/>
              <a:t>c.Lecturer</a:t>
            </a:r>
            <a:r>
              <a:rPr lang="en-ZA" sz="1500" dirty="0"/>
              <a:t>)</a:t>
            </a:r>
          </a:p>
          <a:p>
            <a:pPr marL="457200" lvl="1" indent="0">
              <a:buNone/>
            </a:pPr>
            <a:r>
              <a:rPr lang="en-ZA" sz="1500" dirty="0"/>
              <a:t>.</a:t>
            </a:r>
            <a:r>
              <a:rPr lang="en-ZA" sz="1500" dirty="0" err="1"/>
              <a:t>ToListAsync</a:t>
            </a:r>
            <a:r>
              <a:rPr lang="en-ZA" sz="1500" dirty="0"/>
              <a:t>();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36281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A9C4-DEE1-6F86-5343-27F16B0A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US" sz="3000" dirty="0"/>
              <a:t>Feedback Two Stage Screenshot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F4EA12A-EA9E-D197-6871-77EEC971D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1741" y="1338263"/>
            <a:ext cx="8705344" cy="4452937"/>
          </a:xfrm>
        </p:spPr>
      </p:pic>
    </p:spTree>
    <p:extLst>
      <p:ext uri="{BB962C8B-B14F-4D97-AF65-F5344CB8AC3E}">
        <p14:creationId xmlns:p14="http://schemas.microsoft.com/office/powerpoint/2010/main" val="169421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F387-7F82-B00C-B3B9-4475111B2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EBE7535-13A1-7063-151F-B63E33E1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ZA" sz="3000" b="1" dirty="0"/>
              <a:t>Part 3 - Lecturer Claim Submission Automation</a:t>
            </a:r>
            <a:endParaRPr lang="en-US" sz="3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F1B2F5-170F-0502-D054-F73A395A2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338518"/>
            <a:ext cx="4878389" cy="52350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1500" b="1" dirty="0"/>
              <a:t>Problem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- Hourly rate was manually entered by lecturer (could be tampered)</a:t>
            </a:r>
          </a:p>
          <a:p>
            <a:pPr marL="0" indent="0">
              <a:buNone/>
            </a:pPr>
            <a:endParaRPr lang="en-ZA" sz="1500" dirty="0"/>
          </a:p>
          <a:p>
            <a:pPr marL="0" indent="0">
              <a:buNone/>
            </a:pPr>
            <a:r>
              <a:rPr lang="en-ZA" sz="1500" b="1" dirty="0"/>
              <a:t>Solution: </a:t>
            </a:r>
          </a:p>
          <a:p>
            <a:pPr marL="0" indent="0">
              <a:buNone/>
            </a:pPr>
            <a:r>
              <a:rPr lang="en-ZA" sz="1500" dirty="0"/>
              <a:t>Auto-Fill Hourly Rate from HR Database</a:t>
            </a:r>
          </a:p>
          <a:p>
            <a:pPr marL="0" indent="0">
              <a:buNone/>
            </a:pPr>
            <a:endParaRPr lang="en-ZA" sz="1500" dirty="0"/>
          </a:p>
          <a:p>
            <a:pPr marL="0" indent="0">
              <a:buNone/>
            </a:pPr>
            <a:r>
              <a:rPr lang="en-ZA" sz="1500" b="1" dirty="0"/>
              <a:t>JavaScript Auto-Calculation (</a:t>
            </a:r>
            <a:r>
              <a:rPr lang="en-ZA" sz="1500" b="1" dirty="0" err="1"/>
              <a:t>Create.cshtml</a:t>
            </a:r>
            <a:r>
              <a:rPr lang="en-ZA" sz="1500" b="1" dirty="0"/>
              <a:t>)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$('#</a:t>
            </a:r>
            <a:r>
              <a:rPr lang="en-ZA" sz="1500" dirty="0" err="1"/>
              <a:t>TotalHours</a:t>
            </a:r>
            <a:r>
              <a:rPr lang="en-ZA" sz="1500" dirty="0"/>
              <a:t>').on('input', function() {</a:t>
            </a:r>
          </a:p>
          <a:p>
            <a:pPr marL="457200" lvl="1" indent="0">
              <a:buNone/>
            </a:pPr>
            <a:r>
              <a:rPr lang="en-ZA" sz="1100" dirty="0"/>
              <a:t>var hours = </a:t>
            </a:r>
            <a:r>
              <a:rPr lang="en-ZA" sz="1100" dirty="0" err="1"/>
              <a:t>parseFloat</a:t>
            </a:r>
            <a:r>
              <a:rPr lang="en-ZA" sz="1100" dirty="0"/>
              <a:t>($(this).</a:t>
            </a:r>
            <a:r>
              <a:rPr lang="en-ZA" sz="1100" dirty="0" err="1"/>
              <a:t>val</a:t>
            </a:r>
            <a:r>
              <a:rPr lang="en-ZA" sz="1100" dirty="0"/>
              <a:t>()) || 0;</a:t>
            </a:r>
          </a:p>
          <a:p>
            <a:pPr marL="457200" lvl="1" indent="0">
              <a:buNone/>
            </a:pPr>
            <a:r>
              <a:rPr lang="en-ZA" sz="1100" dirty="0"/>
              <a:t>var rate = </a:t>
            </a:r>
            <a:r>
              <a:rPr lang="en-ZA" sz="1100" dirty="0" err="1"/>
              <a:t>parseFloat</a:t>
            </a:r>
            <a:r>
              <a:rPr lang="en-ZA" sz="1100" dirty="0"/>
              <a:t>($('#</a:t>
            </a:r>
            <a:r>
              <a:rPr lang="en-ZA" sz="1100" dirty="0" err="1"/>
              <a:t>HourlyRate</a:t>
            </a:r>
            <a:r>
              <a:rPr lang="en-ZA" sz="1100" dirty="0"/>
              <a:t>').</a:t>
            </a:r>
            <a:r>
              <a:rPr lang="en-ZA" sz="1100" dirty="0" err="1"/>
              <a:t>val</a:t>
            </a:r>
            <a:r>
              <a:rPr lang="en-ZA" sz="1100" dirty="0"/>
              <a:t>()) || 0;</a:t>
            </a:r>
          </a:p>
          <a:p>
            <a:pPr marL="457200" lvl="1" indent="0">
              <a:buNone/>
            </a:pPr>
            <a:r>
              <a:rPr lang="en-ZA" sz="1100" dirty="0"/>
              <a:t>var total = hours * rate;</a:t>
            </a:r>
          </a:p>
          <a:p>
            <a:pPr marL="457200" lvl="1" indent="0">
              <a:buNone/>
            </a:pPr>
            <a:r>
              <a:rPr lang="en-ZA" sz="1100" dirty="0"/>
              <a:t>$('#</a:t>
            </a:r>
            <a:r>
              <a:rPr lang="en-ZA" sz="1100" dirty="0" err="1"/>
              <a:t>calculatedAmount</a:t>
            </a:r>
            <a:r>
              <a:rPr lang="en-ZA" sz="1100" dirty="0"/>
              <a:t>').text('R ' + </a:t>
            </a:r>
            <a:r>
              <a:rPr lang="en-ZA" sz="1100" dirty="0" err="1"/>
              <a:t>total.toFixed</a:t>
            </a:r>
            <a:r>
              <a:rPr lang="en-ZA" sz="1100" dirty="0"/>
              <a:t>(2));</a:t>
            </a:r>
          </a:p>
          <a:p>
            <a:pPr marL="0" indent="0">
              <a:buNone/>
            </a:pPr>
            <a:r>
              <a:rPr lang="en-ZA" sz="1500" dirty="0"/>
              <a:t>});</a:t>
            </a:r>
          </a:p>
          <a:p>
            <a:pPr marL="0" indent="0">
              <a:buNone/>
            </a:pPr>
            <a:endParaRPr lang="en-ZA" sz="15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FEBC4A-43D8-19F4-C32B-6A2BF39A4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4412" y="1338518"/>
            <a:ext cx="4875211" cy="52350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1500" b="1" dirty="0"/>
              <a:t>Key Code (</a:t>
            </a:r>
            <a:r>
              <a:rPr lang="en-ZA" sz="1500" b="1" dirty="0" err="1"/>
              <a:t>ClaimsController.cs</a:t>
            </a:r>
            <a:r>
              <a:rPr lang="en-ZA" sz="1500" b="1" dirty="0"/>
              <a:t>)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var lecturer = await _</a:t>
            </a:r>
            <a:r>
              <a:rPr lang="en-ZA" sz="1500" dirty="0" err="1"/>
              <a:t>context.Lecturers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	.</a:t>
            </a:r>
            <a:r>
              <a:rPr lang="en-ZA" sz="1500" dirty="0" err="1"/>
              <a:t>FirstOrDefaultAsync</a:t>
            </a:r>
            <a:r>
              <a:rPr lang="en-ZA" sz="1500" dirty="0"/>
              <a:t>(l =&gt; </a:t>
            </a:r>
            <a:r>
              <a:rPr lang="en-ZA" sz="1500" dirty="0" err="1"/>
              <a:t>l.Email</a:t>
            </a:r>
            <a:r>
              <a:rPr lang="en-ZA" sz="1500" dirty="0"/>
              <a:t> == </a:t>
            </a:r>
            <a:r>
              <a:rPr lang="en-ZA" sz="1500" dirty="0" err="1"/>
              <a:t>userEmail</a:t>
            </a:r>
            <a:r>
              <a:rPr lang="en-ZA" sz="1500" dirty="0"/>
              <a:t>);</a:t>
            </a:r>
          </a:p>
          <a:p>
            <a:pPr marL="0" indent="0">
              <a:buNone/>
            </a:pPr>
            <a:r>
              <a:rPr lang="en-ZA" sz="1500" dirty="0"/>
              <a:t>var model = new </a:t>
            </a:r>
            <a:r>
              <a:rPr lang="en-ZA" sz="1500" dirty="0" err="1"/>
              <a:t>ClaimSubmissionViewModel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{</a:t>
            </a:r>
          </a:p>
          <a:p>
            <a:pPr marL="457200" lvl="1" indent="0">
              <a:buNone/>
            </a:pPr>
            <a:r>
              <a:rPr lang="en-ZA" sz="1100" dirty="0" err="1"/>
              <a:t>HourlyRate</a:t>
            </a:r>
            <a:r>
              <a:rPr lang="en-ZA" sz="1100" dirty="0"/>
              <a:t> = </a:t>
            </a:r>
            <a:r>
              <a:rPr lang="en-ZA" sz="1100" dirty="0" err="1"/>
              <a:t>lecturer.HourlyRate</a:t>
            </a:r>
            <a:r>
              <a:rPr lang="en-ZA" sz="1100" dirty="0"/>
              <a:t>, // Auto-filled, read-only</a:t>
            </a:r>
          </a:p>
          <a:p>
            <a:pPr marL="457200" lvl="1" indent="0">
              <a:buNone/>
            </a:pPr>
            <a:r>
              <a:rPr lang="en-ZA" sz="1100" dirty="0" err="1"/>
              <a:t>TotalHours</a:t>
            </a:r>
            <a:r>
              <a:rPr lang="en-ZA" sz="1100" dirty="0"/>
              <a:t> = 0</a:t>
            </a:r>
          </a:p>
          <a:p>
            <a:pPr marL="0" indent="0">
              <a:buNone/>
            </a:pPr>
            <a:r>
              <a:rPr lang="en-ZA" sz="1500" dirty="0"/>
              <a:t>};</a:t>
            </a:r>
            <a:br>
              <a:rPr lang="en-ZA" sz="1500" dirty="0"/>
            </a:br>
            <a:endParaRPr lang="en-ZA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52292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C3998-812C-DE34-804C-64DF53C6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BBB0-547A-240B-1AB4-2D6FF542B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US" sz="3000" dirty="0"/>
              <a:t>Part 3 Hour Automation Screenshot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7D0074-9606-1ADD-7620-D811E7EEA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741741" y="1338263"/>
            <a:ext cx="8705344" cy="4452937"/>
          </a:xfrm>
        </p:spPr>
      </p:pic>
    </p:spTree>
    <p:extLst>
      <p:ext uri="{BB962C8B-B14F-4D97-AF65-F5344CB8AC3E}">
        <p14:creationId xmlns:p14="http://schemas.microsoft.com/office/powerpoint/2010/main" val="3886149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C3B71-0370-1F92-24A2-B839AB837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52C6624-3174-D9AD-ADFB-EB68AA078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84480"/>
            <a:ext cx="9905998" cy="720000"/>
          </a:xfrm>
        </p:spPr>
        <p:txBody>
          <a:bodyPr>
            <a:normAutofit/>
          </a:bodyPr>
          <a:lstStyle/>
          <a:p>
            <a:r>
              <a:rPr lang="en-ZA" sz="3000" b="1"/>
              <a:t>Feedback </a:t>
            </a:r>
            <a:r>
              <a:rPr lang="en-ZA" sz="3000" b="1" dirty="0"/>
              <a:t>- Document Encryption (AES-256)</a:t>
            </a:r>
            <a:endParaRPr lang="en-ZA" sz="3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AE50A63-933C-922A-CF5D-F0EE30367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047660"/>
            <a:ext cx="4878389" cy="55258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1500" b="1" dirty="0"/>
              <a:t>Problem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- Uploaded documents stored without encryption</a:t>
            </a:r>
          </a:p>
          <a:p>
            <a:pPr marL="0" indent="0">
              <a:buNone/>
            </a:pPr>
            <a:r>
              <a:rPr lang="en-ZA" sz="1500" b="1" dirty="0"/>
              <a:t>Solution: </a:t>
            </a:r>
          </a:p>
          <a:p>
            <a:pPr marL="0" indent="0">
              <a:buNone/>
            </a:pPr>
            <a:r>
              <a:rPr lang="en-ZA" sz="1200" dirty="0"/>
              <a:t>Military-Grade AES-256 Encryption</a:t>
            </a:r>
          </a:p>
          <a:p>
            <a:pPr marL="0" indent="0">
              <a:buNone/>
            </a:pPr>
            <a:r>
              <a:rPr lang="en-ZA" sz="1500" b="1" dirty="0"/>
              <a:t>Secure Download (</a:t>
            </a:r>
            <a:r>
              <a:rPr lang="en-ZA" sz="1500" b="1" dirty="0" err="1"/>
              <a:t>SecureFileController.cs</a:t>
            </a:r>
            <a:r>
              <a:rPr lang="en-ZA" sz="1500" b="1" dirty="0"/>
              <a:t>)</a:t>
            </a:r>
            <a:endParaRPr lang="en-ZA" sz="1500" dirty="0"/>
          </a:p>
          <a:p>
            <a:pPr marL="0" indent="0">
              <a:buNone/>
            </a:pPr>
            <a:r>
              <a:rPr lang="en-ZA" sz="1200" dirty="0"/>
              <a:t>[Authorize]</a:t>
            </a:r>
          </a:p>
          <a:p>
            <a:pPr marL="0" indent="0">
              <a:buNone/>
            </a:pPr>
            <a:r>
              <a:rPr lang="en-ZA" sz="1200" dirty="0"/>
              <a:t>public async Task&lt;</a:t>
            </a:r>
            <a:r>
              <a:rPr lang="en-ZA" sz="1200" dirty="0" err="1"/>
              <a:t>IActionResult</a:t>
            </a:r>
            <a:r>
              <a:rPr lang="en-ZA" sz="1200" dirty="0"/>
              <a:t>&gt; Download(Guid </a:t>
            </a:r>
            <a:r>
              <a:rPr lang="en-ZA" sz="1200" dirty="0" err="1"/>
              <a:t>documentId</a:t>
            </a:r>
            <a:r>
              <a:rPr lang="en-ZA" sz="1200" dirty="0"/>
              <a:t>)</a:t>
            </a:r>
          </a:p>
          <a:p>
            <a:pPr marL="0" indent="0">
              <a:buNone/>
            </a:pPr>
            <a:r>
              <a:rPr lang="en-ZA" sz="1200" dirty="0"/>
              <a:t>{</a:t>
            </a:r>
          </a:p>
          <a:p>
            <a:pPr marL="457200" lvl="1" indent="0">
              <a:buNone/>
            </a:pPr>
            <a:r>
              <a:rPr lang="en-ZA" sz="1200" dirty="0"/>
              <a:t>var document = await _</a:t>
            </a:r>
            <a:r>
              <a:rPr lang="en-ZA" sz="1200" dirty="0" err="1"/>
              <a:t>context.Documents.FindAsync</a:t>
            </a:r>
            <a:r>
              <a:rPr lang="en-ZA" sz="1200" dirty="0"/>
              <a:t>(</a:t>
            </a:r>
            <a:r>
              <a:rPr lang="en-ZA" sz="1200" dirty="0" err="1"/>
              <a:t>documentId</a:t>
            </a:r>
            <a:r>
              <a:rPr lang="en-ZA" sz="1200" dirty="0"/>
              <a:t>);</a:t>
            </a:r>
          </a:p>
          <a:p>
            <a:pPr marL="457200" lvl="1" indent="0">
              <a:buNone/>
            </a:pPr>
            <a:r>
              <a:rPr lang="en-ZA" sz="1200" dirty="0"/>
              <a:t>// Authorization check</a:t>
            </a:r>
          </a:p>
          <a:p>
            <a:pPr marL="457200" lvl="1" indent="0">
              <a:buNone/>
            </a:pPr>
            <a:r>
              <a:rPr lang="en-ZA" sz="1200" dirty="0"/>
              <a:t>if (!await </a:t>
            </a:r>
            <a:r>
              <a:rPr lang="en-ZA" sz="1200" dirty="0" err="1"/>
              <a:t>UserCanAccessDocument</a:t>
            </a:r>
            <a:r>
              <a:rPr lang="en-ZA" sz="1200" dirty="0"/>
              <a:t>(document))</a:t>
            </a:r>
          </a:p>
          <a:p>
            <a:pPr marL="457200" lvl="1" indent="0">
              <a:buNone/>
            </a:pPr>
            <a:r>
              <a:rPr lang="en-ZA" sz="1200" dirty="0"/>
              <a:t>return Forbid();</a:t>
            </a:r>
            <a:br>
              <a:rPr lang="en-ZA" sz="1200" dirty="0"/>
            </a:br>
            <a:endParaRPr lang="en-ZA" sz="1200" dirty="0"/>
          </a:p>
          <a:p>
            <a:pPr marL="457200" lvl="1" indent="0">
              <a:buNone/>
            </a:pPr>
            <a:r>
              <a:rPr lang="en-ZA" sz="1200" dirty="0"/>
              <a:t>// Decrypt file before serving</a:t>
            </a:r>
          </a:p>
          <a:p>
            <a:pPr marL="457200" lvl="1" indent="0">
              <a:buNone/>
            </a:pPr>
            <a:r>
              <a:rPr lang="en-ZA" sz="1200" dirty="0"/>
              <a:t>var decrypted = _</a:t>
            </a:r>
            <a:r>
              <a:rPr lang="en-ZA" sz="1200" dirty="0" err="1"/>
              <a:t>encryptionService.DecryptFile</a:t>
            </a:r>
            <a:r>
              <a:rPr lang="en-ZA" sz="1200" dirty="0"/>
              <a:t>(</a:t>
            </a:r>
            <a:r>
              <a:rPr lang="en-ZA" sz="1200" dirty="0" err="1"/>
              <a:t>document.Content</a:t>
            </a:r>
            <a:r>
              <a:rPr lang="en-ZA" sz="1200" dirty="0"/>
              <a:t>);</a:t>
            </a:r>
          </a:p>
          <a:p>
            <a:pPr marL="457200" lvl="1" indent="0">
              <a:buNone/>
            </a:pPr>
            <a:r>
              <a:rPr lang="en-ZA" sz="1200" dirty="0"/>
              <a:t>return File(decrypted, </a:t>
            </a:r>
            <a:r>
              <a:rPr lang="en-ZA" sz="1200" dirty="0" err="1"/>
              <a:t>document.ContentType</a:t>
            </a:r>
            <a:r>
              <a:rPr lang="en-ZA" sz="1200" dirty="0"/>
              <a:t>, </a:t>
            </a:r>
            <a:r>
              <a:rPr lang="en-ZA" sz="1200" dirty="0" err="1"/>
              <a:t>document.FileName</a:t>
            </a:r>
            <a:r>
              <a:rPr lang="en-ZA" sz="1200" dirty="0"/>
              <a:t>);</a:t>
            </a:r>
          </a:p>
          <a:p>
            <a:pPr marL="0" indent="0">
              <a:buNone/>
            </a:pPr>
            <a:r>
              <a:rPr lang="en-ZA" sz="1200" dirty="0"/>
              <a:t>}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EB764A1-06BF-7318-BC10-D0F7F7E50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4412" y="1047660"/>
            <a:ext cx="4875211" cy="55258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1500" b="1" dirty="0"/>
              <a:t>Key Code (</a:t>
            </a:r>
            <a:r>
              <a:rPr lang="en-ZA" sz="1500" b="1" dirty="0" err="1"/>
              <a:t>FileEncryptionService.cs</a:t>
            </a:r>
            <a:r>
              <a:rPr lang="en-ZA" sz="1500" b="1" dirty="0"/>
              <a:t>)</a:t>
            </a:r>
            <a:endParaRPr lang="en-ZA" sz="1500" dirty="0"/>
          </a:p>
          <a:p>
            <a:pPr marL="0" indent="0">
              <a:buNone/>
            </a:pPr>
            <a:r>
              <a:rPr lang="en-ZA" sz="1200" dirty="0"/>
              <a:t>public byte[] </a:t>
            </a:r>
            <a:r>
              <a:rPr lang="en-ZA" sz="1200" dirty="0" err="1"/>
              <a:t>EncryptFile</a:t>
            </a:r>
            <a:r>
              <a:rPr lang="en-ZA" sz="1200" dirty="0"/>
              <a:t>(byte[] </a:t>
            </a:r>
            <a:r>
              <a:rPr lang="en-ZA" sz="1200" dirty="0" err="1"/>
              <a:t>fileContent</a:t>
            </a:r>
            <a:r>
              <a:rPr lang="en-ZA" sz="1200" dirty="0"/>
              <a:t>)</a:t>
            </a:r>
          </a:p>
          <a:p>
            <a:pPr marL="0" indent="0">
              <a:buNone/>
            </a:pPr>
            <a:r>
              <a:rPr lang="en-ZA" sz="1200" dirty="0"/>
              <a:t>{</a:t>
            </a:r>
          </a:p>
          <a:p>
            <a:pPr marL="457200" lvl="1" indent="0">
              <a:buNone/>
            </a:pPr>
            <a:r>
              <a:rPr lang="en-ZA" sz="1200" dirty="0"/>
              <a:t>using (</a:t>
            </a:r>
            <a:r>
              <a:rPr lang="en-ZA" sz="1200" dirty="0" err="1"/>
              <a:t>Aes</a:t>
            </a:r>
            <a:r>
              <a:rPr lang="en-ZA" sz="1200" dirty="0"/>
              <a:t> </a:t>
            </a:r>
            <a:r>
              <a:rPr lang="en-ZA" sz="1200" dirty="0" err="1"/>
              <a:t>aes</a:t>
            </a:r>
            <a:r>
              <a:rPr lang="en-ZA" sz="1200" dirty="0"/>
              <a:t> = </a:t>
            </a:r>
            <a:r>
              <a:rPr lang="en-ZA" sz="1200" dirty="0" err="1"/>
              <a:t>Aes.Create</a:t>
            </a:r>
            <a:r>
              <a:rPr lang="en-ZA" sz="1200" dirty="0"/>
              <a:t>())</a:t>
            </a:r>
          </a:p>
          <a:p>
            <a:pPr marL="457200" lvl="1" indent="0">
              <a:buNone/>
            </a:pPr>
            <a:r>
              <a:rPr lang="en-ZA" sz="1200" dirty="0"/>
              <a:t>{</a:t>
            </a:r>
          </a:p>
          <a:p>
            <a:pPr marL="914400" lvl="2" indent="0">
              <a:buNone/>
            </a:pPr>
            <a:r>
              <a:rPr lang="en-ZA" sz="1200" dirty="0" err="1"/>
              <a:t>aes.Key</a:t>
            </a:r>
            <a:r>
              <a:rPr lang="en-ZA" sz="1200" dirty="0"/>
              <a:t> = _</a:t>
            </a:r>
            <a:r>
              <a:rPr lang="en-ZA" sz="1200" dirty="0" err="1"/>
              <a:t>encryptionKey</a:t>
            </a:r>
            <a:r>
              <a:rPr lang="en-ZA" sz="1200" dirty="0"/>
              <a:t>;</a:t>
            </a:r>
          </a:p>
          <a:p>
            <a:pPr marL="914400" lvl="2" indent="0">
              <a:buNone/>
            </a:pPr>
            <a:r>
              <a:rPr lang="en-ZA" sz="1200" dirty="0" err="1"/>
              <a:t>aes.IV</a:t>
            </a:r>
            <a:r>
              <a:rPr lang="en-ZA" sz="1200" dirty="0"/>
              <a:t> = _iv;</a:t>
            </a:r>
          </a:p>
          <a:p>
            <a:pPr marL="914400" lvl="2" indent="0">
              <a:buNone/>
            </a:pPr>
            <a:r>
              <a:rPr lang="en-ZA" sz="1200" dirty="0" err="1"/>
              <a:t>aes.Mode</a:t>
            </a:r>
            <a:r>
              <a:rPr lang="en-ZA" sz="1200" dirty="0"/>
              <a:t> = </a:t>
            </a:r>
            <a:r>
              <a:rPr lang="en-ZA" sz="1200" dirty="0" err="1"/>
              <a:t>CipherMode.CBC</a:t>
            </a:r>
            <a:r>
              <a:rPr lang="en-ZA" sz="1200" dirty="0"/>
              <a:t>;</a:t>
            </a:r>
          </a:p>
          <a:p>
            <a:pPr marL="914400" lvl="2" indent="0">
              <a:buNone/>
            </a:pPr>
            <a:r>
              <a:rPr lang="en-ZA" sz="1200" dirty="0" err="1"/>
              <a:t>aes.Padding</a:t>
            </a:r>
            <a:r>
              <a:rPr lang="en-ZA" sz="1200" dirty="0"/>
              <a:t> = PaddingMode.PKCS7;</a:t>
            </a:r>
            <a:br>
              <a:rPr lang="en-ZA" sz="1200" dirty="0"/>
            </a:br>
            <a:endParaRPr lang="en-ZA" sz="1200" dirty="0"/>
          </a:p>
          <a:p>
            <a:pPr marL="914400" lvl="2" indent="0">
              <a:buNone/>
            </a:pPr>
            <a:r>
              <a:rPr lang="en-ZA" sz="1200" dirty="0"/>
              <a:t>using (var encryptor = </a:t>
            </a:r>
            <a:r>
              <a:rPr lang="en-ZA" sz="1200" dirty="0" err="1"/>
              <a:t>aes.CreateEncryptor</a:t>
            </a:r>
            <a:r>
              <a:rPr lang="en-ZA" sz="1200" dirty="0"/>
              <a:t>())</a:t>
            </a:r>
          </a:p>
          <a:p>
            <a:pPr marL="914400" lvl="2" indent="0">
              <a:buNone/>
            </a:pPr>
            <a:r>
              <a:rPr lang="en-ZA" sz="1200" dirty="0"/>
              <a:t>{</a:t>
            </a:r>
          </a:p>
          <a:p>
            <a:pPr marL="914400" lvl="2" indent="0">
              <a:buNone/>
            </a:pPr>
            <a:r>
              <a:rPr lang="en-ZA" sz="1200" dirty="0"/>
              <a:t>return </a:t>
            </a:r>
            <a:r>
              <a:rPr lang="en-ZA" sz="1200" dirty="0" err="1"/>
              <a:t>encryptor.TransformFinalBlock</a:t>
            </a:r>
            <a:r>
              <a:rPr lang="en-ZA" sz="1200" dirty="0"/>
              <a:t>(</a:t>
            </a:r>
          </a:p>
          <a:p>
            <a:pPr marL="914400" lvl="2" indent="0">
              <a:buNone/>
            </a:pPr>
            <a:r>
              <a:rPr lang="en-ZA" sz="1200" dirty="0" err="1"/>
              <a:t>fileContent</a:t>
            </a:r>
            <a:r>
              <a:rPr lang="en-ZA" sz="1200" dirty="0"/>
              <a:t>, 0, </a:t>
            </a:r>
            <a:r>
              <a:rPr lang="en-ZA" sz="1200" dirty="0" err="1"/>
              <a:t>fileContent.Length</a:t>
            </a:r>
            <a:r>
              <a:rPr lang="en-ZA" sz="1200" dirty="0"/>
              <a:t>);</a:t>
            </a:r>
          </a:p>
          <a:p>
            <a:pPr marL="914400" lvl="2" indent="0">
              <a:buNone/>
            </a:pPr>
            <a:r>
              <a:rPr lang="en-ZA" sz="1200" dirty="0"/>
              <a:t>}</a:t>
            </a:r>
          </a:p>
          <a:p>
            <a:pPr marL="457200" lvl="1" indent="0">
              <a:buNone/>
            </a:pPr>
            <a:r>
              <a:rPr lang="en-ZA" sz="1200" dirty="0"/>
              <a:t>}</a:t>
            </a:r>
          </a:p>
          <a:p>
            <a:pPr marL="0" indent="0">
              <a:buNone/>
            </a:pPr>
            <a:r>
              <a:rPr lang="en-ZA" sz="1200" dirty="0"/>
              <a:t>}</a:t>
            </a:r>
          </a:p>
          <a:p>
            <a:pPr marL="0" indent="0">
              <a:buNone/>
            </a:pPr>
            <a:br>
              <a:rPr lang="en-ZA" sz="1500" dirty="0"/>
            </a:br>
            <a:endParaRPr lang="en-ZA" sz="15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1B37C-3EC7-65D5-6D48-CE54294CC868}"/>
              </a:ext>
            </a:extLst>
          </p:cNvPr>
          <p:cNvSpPr txBox="1"/>
          <p:nvPr/>
        </p:nvSpPr>
        <p:spPr>
          <a:xfrm>
            <a:off x="2527300" y="241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509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67F14-97C1-A05C-BCC4-64AB0C1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6D67-57E1-FCB5-B2F6-3986AD86E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US" sz="3000" dirty="0"/>
              <a:t>Part 3 Hour Automation Screenshot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CD68A6-C09C-472C-0F75-72DF9FEBA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741741" y="1338263"/>
            <a:ext cx="8705344" cy="4452937"/>
          </a:xfrm>
        </p:spPr>
      </p:pic>
    </p:spTree>
    <p:extLst>
      <p:ext uri="{BB962C8B-B14F-4D97-AF65-F5344CB8AC3E}">
        <p14:creationId xmlns:p14="http://schemas.microsoft.com/office/powerpoint/2010/main" val="4631537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86</TotalTime>
  <Words>644</Words>
  <Application>Microsoft Macintosh PowerPoint</Application>
  <PresentationFormat>Widescreen</PresentationFormat>
  <Paragraphs>109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Circuit</vt:lpstr>
      <vt:lpstr>Part 3: Application Enhancement &amp; Automation</vt:lpstr>
      <vt:lpstr>Agenda</vt:lpstr>
      <vt:lpstr>Part 2 to Part 3 - What Changed?</vt:lpstr>
      <vt:lpstr>Feedback  - Two-Stage Approval Workflow</vt:lpstr>
      <vt:lpstr>Feedback Two Stage Screenshot</vt:lpstr>
      <vt:lpstr>Part 3 - Lecturer Claim Submission Automation</vt:lpstr>
      <vt:lpstr>Part 3 Hour Automation Screenshot 1</vt:lpstr>
      <vt:lpstr>Feedback - Document Encryption (AES-256)</vt:lpstr>
      <vt:lpstr>Part 3 Hour Automation Screenshot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Aliyu Haidar II</dc:creator>
  <cp:lastModifiedBy>Aliyu Haidar II</cp:lastModifiedBy>
  <cp:revision>3</cp:revision>
  <dcterms:created xsi:type="dcterms:W3CDTF">2025-11-21T09:14:30Z</dcterms:created>
  <dcterms:modified xsi:type="dcterms:W3CDTF">2025-11-21T10:40:53Z</dcterms:modified>
</cp:coreProperties>
</file>