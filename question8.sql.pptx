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2"/>
  </p:normalViewPr>
  <p:slideViewPr>
    <p:cSldViewPr snapToGrid="0">
      <p:cViewPr>
        <p:scale>
          <a:sx n="101" d="100"/>
          <a:sy n="101" d="100"/>
        </p:scale>
        <p:origin x="119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885D-5668-EB07-4A34-13DDE4940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Part 3: Application Enhancement &amp; Automation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82DF7-8C9D-8F65-C80D-96FA24C3CA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Student Number: ST10440112</a:t>
            </a:r>
          </a:p>
          <a:p>
            <a:r>
              <a:rPr lang="en-ZA" dirty="0"/>
              <a:t>Module: PROG6212</a:t>
            </a:r>
          </a:p>
          <a:p>
            <a:r>
              <a:rPr lang="en-ZA" dirty="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2566179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7A14B-A14F-BC99-A3D3-5A628648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US" sz="3000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8544C-232C-1DE7-890B-814E41402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38518"/>
            <a:ext cx="9905999" cy="44526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ZA" dirty="0"/>
              <a:t>1. Part 2 to Part 3 Changes Overview</a:t>
            </a:r>
          </a:p>
          <a:p>
            <a:pPr marL="0" indent="0">
              <a:buNone/>
            </a:pPr>
            <a:r>
              <a:rPr lang="en-ZA" dirty="0"/>
              <a:t>2. Feedback Implementation Summary</a:t>
            </a:r>
          </a:p>
          <a:p>
            <a:pPr marL="0" indent="0">
              <a:buNone/>
            </a:pPr>
            <a:r>
              <a:rPr lang="en-ZA" dirty="0"/>
              <a:t>3. Lecturer View - Claim Submission Automation</a:t>
            </a:r>
          </a:p>
          <a:p>
            <a:pPr marL="0" indent="0">
              <a:buNone/>
            </a:pPr>
            <a:r>
              <a:rPr lang="en-ZA" dirty="0"/>
              <a:t>4. Coordinator &amp; Manager View - Verification/Approval Workflow</a:t>
            </a:r>
          </a:p>
          <a:p>
            <a:pPr marL="0" indent="0">
              <a:buNone/>
            </a:pPr>
            <a:r>
              <a:rPr lang="en-ZA" dirty="0"/>
              <a:t>5. HR View - User Management &amp; Reporting</a:t>
            </a:r>
          </a:p>
          <a:p>
            <a:pPr marL="0" indent="0">
              <a:buNone/>
            </a:pPr>
            <a:r>
              <a:rPr lang="en-ZA" dirty="0"/>
              <a:t>6. Session Management &amp; Access Control</a:t>
            </a:r>
          </a:p>
          <a:p>
            <a:pPr marL="0" indent="0">
              <a:buNone/>
            </a:pPr>
            <a:r>
              <a:rPr lang="en-ZA" dirty="0"/>
              <a:t>7. Document Encryption Security</a:t>
            </a:r>
          </a:p>
          <a:p>
            <a:pPr marL="0" indent="0">
              <a:buNone/>
            </a:pPr>
            <a:r>
              <a:rPr lang="en-ZA" dirty="0"/>
              <a:t>8. Error Handling Improvements</a:t>
            </a:r>
          </a:p>
          <a:p>
            <a:pPr marL="0" indent="0">
              <a:buNone/>
            </a:pPr>
            <a:r>
              <a:rPr lang="en-ZA" dirty="0"/>
              <a:t>9. Validation System</a:t>
            </a:r>
          </a:p>
          <a:p>
            <a:pPr marL="0" indent="0">
              <a:buNone/>
            </a:pPr>
            <a:r>
              <a:rPr lang="en-ZA" dirty="0"/>
              <a:t>10. Live Demo / Key Screenshots</a:t>
            </a:r>
          </a:p>
          <a:p>
            <a:pPr marL="0" indent="0">
              <a:buNone/>
            </a:pPr>
            <a:r>
              <a:rPr lang="en-ZA" dirty="0"/>
              <a:t>11. Conclusion</a:t>
            </a:r>
          </a:p>
        </p:txBody>
      </p:sp>
    </p:spTree>
    <p:extLst>
      <p:ext uri="{BB962C8B-B14F-4D97-AF65-F5344CB8AC3E}">
        <p14:creationId xmlns:p14="http://schemas.microsoft.com/office/powerpoint/2010/main" val="203974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B0A4D-134E-E778-B2C7-DF68AD022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ZA" sz="3000" b="1" dirty="0"/>
              <a:t>Part 2 to Part 3 - What Changed?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2A8CA-5A55-DFB8-2750-0CDC11D0F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338519"/>
            <a:ext cx="4878389" cy="4452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700" b="1" dirty="0"/>
              <a:t>Part 2 Features (Existing)</a:t>
            </a:r>
            <a:endParaRPr lang="en-ZA" sz="1700" dirty="0"/>
          </a:p>
          <a:p>
            <a:pPr marL="0" indent="0">
              <a:buNone/>
            </a:pPr>
            <a:r>
              <a:rPr lang="en-ZA" sz="1700" dirty="0"/>
              <a:t>- Basic claim submission</a:t>
            </a:r>
          </a:p>
          <a:p>
            <a:pPr marL="0" indent="0">
              <a:buNone/>
            </a:pPr>
            <a:r>
              <a:rPr lang="en-ZA" sz="1700" dirty="0"/>
              <a:t>- Simple approval workflow</a:t>
            </a:r>
          </a:p>
          <a:p>
            <a:pPr marL="0" indent="0">
              <a:buNone/>
            </a:pPr>
            <a:r>
              <a:rPr lang="en-ZA" sz="1700" dirty="0"/>
              <a:t>- Document uploads (no encryption)</a:t>
            </a:r>
          </a:p>
          <a:p>
            <a:pPr marL="0" indent="0">
              <a:buNone/>
            </a:pPr>
            <a:r>
              <a:rPr lang="en-ZA" sz="1700" dirty="0"/>
              <a:t>- Limited error handling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C9311-E121-EEEF-FC19-A89A10A8D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6205"/>
            <a:ext cx="4875211" cy="43749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600" b="1" dirty="0"/>
              <a:t>Part 3 Enhancements (New)</a:t>
            </a:r>
            <a:endParaRPr lang="en-ZA" sz="1600" dirty="0"/>
          </a:p>
          <a:p>
            <a:pPr marL="0" indent="0">
              <a:buNone/>
            </a:pPr>
            <a:r>
              <a:rPr lang="en-ZA" sz="1600" dirty="0"/>
              <a:t>-  ASP.NET Core Identity authentication</a:t>
            </a:r>
          </a:p>
          <a:p>
            <a:pPr marL="0" indent="0">
              <a:buNone/>
            </a:pPr>
            <a:r>
              <a:rPr lang="en-ZA" sz="1600" dirty="0"/>
              <a:t>-  HR role with user management</a:t>
            </a:r>
          </a:p>
          <a:p>
            <a:pPr marL="0" indent="0">
              <a:buNone/>
            </a:pPr>
            <a:r>
              <a:rPr lang="en-ZA" sz="1600" dirty="0"/>
              <a:t>-  Automated hourly rate (HR-managed)</a:t>
            </a:r>
          </a:p>
          <a:p>
            <a:pPr marL="0" indent="0">
              <a:buNone/>
            </a:pPr>
            <a:r>
              <a:rPr lang="en-ZA" sz="1600" dirty="0"/>
              <a:t>-  Auto-calculation (Hours × Rate)</a:t>
            </a:r>
          </a:p>
          <a:p>
            <a:pPr marL="0" indent="0">
              <a:buNone/>
            </a:pPr>
            <a:r>
              <a:rPr lang="en-ZA" sz="1600" dirty="0"/>
              <a:t>-  Two-stage approval workflow (Coordinator → Manager)</a:t>
            </a:r>
          </a:p>
          <a:p>
            <a:pPr marL="0" indent="0">
              <a:buNone/>
            </a:pPr>
            <a:r>
              <a:rPr lang="en-ZA" sz="1600" dirty="0"/>
              <a:t>-  Invoice &amp; report generation</a:t>
            </a:r>
          </a:p>
          <a:p>
            <a:pPr marL="0" indent="0">
              <a:buNone/>
            </a:pPr>
            <a:r>
              <a:rPr lang="en-ZA" sz="1600" dirty="0"/>
              <a:t>-  Session management &amp; access control</a:t>
            </a:r>
          </a:p>
          <a:p>
            <a:pPr marL="0" indent="0">
              <a:buNone/>
            </a:pPr>
            <a:r>
              <a:rPr lang="en-ZA" sz="1600" dirty="0"/>
              <a:t>-  AES-256 document encryption</a:t>
            </a:r>
          </a:p>
          <a:p>
            <a:pPr marL="0" indent="0">
              <a:buNone/>
            </a:pPr>
            <a:r>
              <a:rPr lang="en-ZA" sz="1600" dirty="0"/>
              <a:t>-  Circuit breaker error handling</a:t>
            </a:r>
          </a:p>
          <a:p>
            <a:pPr marL="0" indent="0">
              <a:buNone/>
            </a:pPr>
            <a:r>
              <a:rPr lang="en-ZA" sz="1600" dirty="0"/>
              <a:t>-  Comprehensive validation</a:t>
            </a:r>
          </a:p>
        </p:txBody>
      </p:sp>
    </p:spTree>
    <p:extLst>
      <p:ext uri="{BB962C8B-B14F-4D97-AF65-F5344CB8AC3E}">
        <p14:creationId xmlns:p14="http://schemas.microsoft.com/office/powerpoint/2010/main" val="385195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B619-9490-F864-0DC5-B341F48FF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ZA" sz="3000" b="1" dirty="0"/>
              <a:t>Feedback #1 - Two-Stage Approval Workflow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1D601-D248-F986-8745-BE2731AFB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38518"/>
            <a:ext cx="9905999" cy="445268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26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7BE5F2-7EE1-983A-B512-7810904A9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ZA" sz="3000" b="1" dirty="0"/>
              <a:t>Feedback #1 - Two-Stage Approval Workflow</a:t>
            </a:r>
            <a:endParaRPr lang="en-US" sz="3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9193EF-5D60-5EE4-3C91-9C7162112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338518"/>
            <a:ext cx="4878389" cy="5235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600" b="1" dirty="0"/>
              <a:t> </a:t>
            </a:r>
            <a:r>
              <a:rPr lang="en-ZA" sz="1500" b="1" dirty="0"/>
              <a:t>Problem</a:t>
            </a:r>
            <a:endParaRPr lang="en-ZA" sz="1500" dirty="0"/>
          </a:p>
          <a:p>
            <a:pPr>
              <a:buFontTx/>
              <a:buChar char="-"/>
            </a:pPr>
            <a:r>
              <a:rPr lang="en-ZA" sz="1500" dirty="0"/>
              <a:t>Needed better separation between verification and approval stages.</a:t>
            </a:r>
          </a:p>
          <a:p>
            <a:pPr marL="0" indent="0">
              <a:buNone/>
            </a:pPr>
            <a:br>
              <a:rPr lang="en-ZA" sz="1500" dirty="0"/>
            </a:br>
            <a:r>
              <a:rPr lang="en-ZA" sz="1500" b="1" dirty="0"/>
              <a:t>Solution Implemented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Pending → Coordinator Verifies → Verified </a:t>
            </a:r>
          </a:p>
          <a:p>
            <a:pPr marL="0" indent="0">
              <a:buNone/>
            </a:pPr>
            <a:r>
              <a:rPr lang="en-ZA" sz="1500" dirty="0"/>
              <a:t>→ Manager Approves → Approved</a:t>
            </a:r>
          </a:p>
          <a:p>
            <a:pPr marL="0" indent="0">
              <a:buNone/>
            </a:pPr>
            <a:endParaRPr lang="en-ZA" sz="3200" dirty="0"/>
          </a:p>
          <a:p>
            <a:endParaRPr lang="en-US" sz="15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A214CB-E486-CF4F-88D3-AD50BCBF0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412" y="1338518"/>
            <a:ext cx="4875211" cy="5235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500" b="1" dirty="0"/>
              <a:t>Key Code (</a:t>
            </a:r>
            <a:r>
              <a:rPr lang="en-ZA" sz="1500" b="1" dirty="0" err="1"/>
              <a:t>CoordinatorController.cs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var </a:t>
            </a:r>
            <a:r>
              <a:rPr lang="en-ZA" sz="1500" dirty="0" err="1"/>
              <a:t>pendingClaims</a:t>
            </a:r>
            <a:r>
              <a:rPr lang="en-ZA" sz="1500" dirty="0"/>
              <a:t> = await _</a:t>
            </a:r>
            <a:r>
              <a:rPr lang="en-ZA" sz="1500" dirty="0" err="1"/>
              <a:t>context.Claims</a:t>
            </a:r>
            <a:endParaRPr lang="en-ZA" sz="1500" dirty="0"/>
          </a:p>
          <a:p>
            <a:pPr marL="457200" lvl="1" indent="0">
              <a:buNone/>
            </a:pPr>
            <a:r>
              <a:rPr lang="en-ZA" sz="1500" dirty="0"/>
              <a:t>.Where(c =&gt; </a:t>
            </a:r>
            <a:r>
              <a:rPr lang="en-ZA" sz="1500" dirty="0" err="1"/>
              <a:t>c.ClaimStatus</a:t>
            </a:r>
            <a:r>
              <a:rPr lang="en-ZA" sz="1500" dirty="0"/>
              <a:t> == "Pending")</a:t>
            </a:r>
          </a:p>
          <a:p>
            <a:pPr marL="457200" lvl="1" indent="0">
              <a:buNone/>
            </a:pPr>
            <a:r>
              <a:rPr lang="en-ZA" sz="1500" dirty="0"/>
              <a:t>.Include(c =&gt; </a:t>
            </a:r>
            <a:r>
              <a:rPr lang="en-ZA" sz="1500" dirty="0" err="1"/>
              <a:t>c.Lecturer</a:t>
            </a:r>
            <a:r>
              <a:rPr lang="en-ZA" sz="1500" dirty="0"/>
              <a:t>)</a:t>
            </a:r>
          </a:p>
          <a:p>
            <a:pPr marL="457200" lvl="1" indent="0">
              <a:buNone/>
            </a:pPr>
            <a:r>
              <a:rPr lang="en-ZA" sz="1500" dirty="0"/>
              <a:t>.</a:t>
            </a:r>
            <a:r>
              <a:rPr lang="en-ZA" sz="1500" dirty="0" err="1"/>
              <a:t>ToListAsync</a:t>
            </a:r>
            <a:r>
              <a:rPr lang="en-ZA" sz="1500" dirty="0"/>
              <a:t>();</a:t>
            </a:r>
          </a:p>
          <a:p>
            <a:pPr marL="0" indent="0">
              <a:buNone/>
            </a:pPr>
            <a:br>
              <a:rPr lang="en-ZA" sz="1500" dirty="0"/>
            </a:br>
            <a:r>
              <a:rPr lang="en-ZA" sz="1500" b="1" dirty="0"/>
              <a:t>Key Code (</a:t>
            </a:r>
            <a:r>
              <a:rPr lang="en-ZA" sz="1500" b="1" dirty="0" err="1"/>
              <a:t>ManagerController.cs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// Manager only sees Verified claims</a:t>
            </a:r>
          </a:p>
          <a:p>
            <a:pPr marL="0" indent="0">
              <a:buNone/>
            </a:pPr>
            <a:r>
              <a:rPr lang="en-ZA" sz="1500" dirty="0"/>
              <a:t>var </a:t>
            </a:r>
            <a:r>
              <a:rPr lang="en-ZA" sz="1500" dirty="0" err="1"/>
              <a:t>verifiedClaims</a:t>
            </a:r>
            <a:r>
              <a:rPr lang="en-ZA" sz="1500" dirty="0"/>
              <a:t> = await _</a:t>
            </a:r>
            <a:r>
              <a:rPr lang="en-ZA" sz="1500" dirty="0" err="1"/>
              <a:t>context.Claims</a:t>
            </a:r>
            <a:endParaRPr lang="en-ZA" sz="1500" dirty="0"/>
          </a:p>
          <a:p>
            <a:pPr marL="457200" lvl="1" indent="0">
              <a:buNone/>
            </a:pPr>
            <a:r>
              <a:rPr lang="en-ZA" sz="1500" dirty="0"/>
              <a:t>.Where(c =&gt; </a:t>
            </a:r>
            <a:r>
              <a:rPr lang="en-ZA" sz="1500" dirty="0" err="1"/>
              <a:t>c.ClaimStatus</a:t>
            </a:r>
            <a:r>
              <a:rPr lang="en-ZA" sz="1500" dirty="0"/>
              <a:t> == "Verified")</a:t>
            </a:r>
          </a:p>
          <a:p>
            <a:pPr marL="457200" lvl="1" indent="0">
              <a:buNone/>
            </a:pPr>
            <a:r>
              <a:rPr lang="en-ZA" sz="1500" dirty="0"/>
              <a:t>.Include(c =&gt; </a:t>
            </a:r>
            <a:r>
              <a:rPr lang="en-ZA" sz="1500" dirty="0" err="1"/>
              <a:t>c.Lecturer</a:t>
            </a:r>
            <a:r>
              <a:rPr lang="en-ZA" sz="1500" dirty="0"/>
              <a:t>)</a:t>
            </a:r>
          </a:p>
          <a:p>
            <a:pPr marL="457200" lvl="1" indent="0">
              <a:buNone/>
            </a:pPr>
            <a:r>
              <a:rPr lang="en-ZA" sz="1500" dirty="0"/>
              <a:t>.</a:t>
            </a:r>
            <a:r>
              <a:rPr lang="en-ZA" sz="1500" dirty="0" err="1"/>
              <a:t>ToListAsync</a:t>
            </a:r>
            <a:r>
              <a:rPr lang="en-ZA" sz="1500" dirty="0"/>
              <a:t>();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362815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A9C4-DEE1-6F86-5343-27F16B0A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US" sz="3000" dirty="0"/>
              <a:t>Feedback 1 Screenshot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F4EA12A-EA9E-D197-6871-77EEC971D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1741" y="1338263"/>
            <a:ext cx="8705344" cy="4452937"/>
          </a:xfrm>
        </p:spPr>
      </p:pic>
    </p:spTree>
    <p:extLst>
      <p:ext uri="{BB962C8B-B14F-4D97-AF65-F5344CB8AC3E}">
        <p14:creationId xmlns:p14="http://schemas.microsoft.com/office/powerpoint/2010/main" val="169421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F387-7F82-B00C-B3B9-4475111B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EBE7535-13A1-7063-151F-B63E33E1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rmAutofit/>
          </a:bodyPr>
          <a:lstStyle/>
          <a:p>
            <a:r>
              <a:rPr lang="en-ZA" sz="3000" b="1"/>
              <a:t>Part 3 - </a:t>
            </a:r>
            <a:r>
              <a:rPr lang="en-ZA" sz="3000" b="1" dirty="0"/>
              <a:t>Lecturer Claim Submission Automation</a:t>
            </a:r>
            <a:endParaRPr lang="en-US" sz="3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F1B2F5-170F-0502-D054-F73A395A2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338518"/>
            <a:ext cx="4878389" cy="5235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500" b="1" dirty="0"/>
              <a:t>Problem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- Hourly rate was manually entered by lecturer (could be tampered)</a:t>
            </a:r>
          </a:p>
          <a:p>
            <a:pPr marL="0" indent="0">
              <a:buNone/>
            </a:pPr>
            <a:endParaRPr lang="en-ZA" sz="1500" dirty="0"/>
          </a:p>
          <a:p>
            <a:pPr marL="0" indent="0">
              <a:buNone/>
            </a:pPr>
            <a:r>
              <a:rPr lang="en-ZA" sz="1500" b="1" dirty="0"/>
              <a:t>Solution: </a:t>
            </a:r>
          </a:p>
          <a:p>
            <a:pPr marL="0" indent="0">
              <a:buNone/>
            </a:pPr>
            <a:r>
              <a:rPr lang="en-ZA" sz="1500" dirty="0"/>
              <a:t>Auto-Fill Hourly Rate from HR Database</a:t>
            </a:r>
          </a:p>
          <a:p>
            <a:pPr marL="0" indent="0">
              <a:buNone/>
            </a:pPr>
            <a:endParaRPr lang="en-ZA" sz="1500" dirty="0"/>
          </a:p>
          <a:p>
            <a:pPr marL="0" indent="0">
              <a:buNone/>
            </a:pPr>
            <a:r>
              <a:rPr lang="en-ZA" sz="1500" b="1" dirty="0"/>
              <a:t>JavaScript Auto-Calculation (</a:t>
            </a:r>
            <a:r>
              <a:rPr lang="en-ZA" sz="1500" b="1" dirty="0" err="1"/>
              <a:t>Create.cshtml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$('#</a:t>
            </a:r>
            <a:r>
              <a:rPr lang="en-ZA" sz="1500" dirty="0" err="1"/>
              <a:t>TotalHours</a:t>
            </a:r>
            <a:r>
              <a:rPr lang="en-ZA" sz="1500" dirty="0"/>
              <a:t>').on('input', function() {</a:t>
            </a:r>
          </a:p>
          <a:p>
            <a:pPr marL="457200" lvl="1" indent="0">
              <a:buNone/>
            </a:pPr>
            <a:r>
              <a:rPr lang="en-ZA" sz="1100" dirty="0"/>
              <a:t>var hours = </a:t>
            </a:r>
            <a:r>
              <a:rPr lang="en-ZA" sz="1100" dirty="0" err="1"/>
              <a:t>parseFloat</a:t>
            </a:r>
            <a:r>
              <a:rPr lang="en-ZA" sz="1100" dirty="0"/>
              <a:t>($(this).</a:t>
            </a:r>
            <a:r>
              <a:rPr lang="en-ZA" sz="1100" dirty="0" err="1"/>
              <a:t>val</a:t>
            </a:r>
            <a:r>
              <a:rPr lang="en-ZA" sz="1100" dirty="0"/>
              <a:t>()) || 0;</a:t>
            </a:r>
          </a:p>
          <a:p>
            <a:pPr marL="457200" lvl="1" indent="0">
              <a:buNone/>
            </a:pPr>
            <a:r>
              <a:rPr lang="en-ZA" sz="1100" dirty="0"/>
              <a:t>var rate = </a:t>
            </a:r>
            <a:r>
              <a:rPr lang="en-ZA" sz="1100" dirty="0" err="1"/>
              <a:t>parseFloat</a:t>
            </a:r>
            <a:r>
              <a:rPr lang="en-ZA" sz="1100" dirty="0"/>
              <a:t>($('#</a:t>
            </a:r>
            <a:r>
              <a:rPr lang="en-ZA" sz="1100" dirty="0" err="1"/>
              <a:t>HourlyRate</a:t>
            </a:r>
            <a:r>
              <a:rPr lang="en-ZA" sz="1100" dirty="0"/>
              <a:t>').</a:t>
            </a:r>
            <a:r>
              <a:rPr lang="en-ZA" sz="1100" dirty="0" err="1"/>
              <a:t>val</a:t>
            </a:r>
            <a:r>
              <a:rPr lang="en-ZA" sz="1100" dirty="0"/>
              <a:t>()) || 0;</a:t>
            </a:r>
          </a:p>
          <a:p>
            <a:pPr marL="457200" lvl="1" indent="0">
              <a:buNone/>
            </a:pPr>
            <a:r>
              <a:rPr lang="en-ZA" sz="1100" dirty="0"/>
              <a:t>var total = hours * rate;</a:t>
            </a:r>
          </a:p>
          <a:p>
            <a:pPr marL="457200" lvl="1" indent="0">
              <a:buNone/>
            </a:pPr>
            <a:r>
              <a:rPr lang="en-ZA" sz="1100" dirty="0"/>
              <a:t>$('#</a:t>
            </a:r>
            <a:r>
              <a:rPr lang="en-ZA" sz="1100" dirty="0" err="1"/>
              <a:t>calculatedAmount</a:t>
            </a:r>
            <a:r>
              <a:rPr lang="en-ZA" sz="1100" dirty="0"/>
              <a:t>').text('R ' + </a:t>
            </a:r>
            <a:r>
              <a:rPr lang="en-ZA" sz="1100" dirty="0" err="1"/>
              <a:t>total.toFixed</a:t>
            </a:r>
            <a:r>
              <a:rPr lang="en-ZA" sz="1100" dirty="0"/>
              <a:t>(2));</a:t>
            </a:r>
          </a:p>
          <a:p>
            <a:pPr marL="0" indent="0">
              <a:buNone/>
            </a:pPr>
            <a:r>
              <a:rPr lang="en-ZA" sz="1500" dirty="0"/>
              <a:t>});</a:t>
            </a:r>
          </a:p>
          <a:p>
            <a:pPr marL="0" indent="0">
              <a:buNone/>
            </a:pPr>
            <a:endParaRPr lang="en-ZA" sz="15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FEBC4A-43D8-19F4-C32B-6A2BF39A4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412" y="1338518"/>
            <a:ext cx="4875211" cy="5235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500" b="1" dirty="0"/>
              <a:t>Key Code (</a:t>
            </a:r>
            <a:r>
              <a:rPr lang="en-ZA" sz="1500" b="1" dirty="0" err="1"/>
              <a:t>ClaimsController.cs</a:t>
            </a:r>
            <a:r>
              <a:rPr lang="en-ZA" sz="1500" b="1" dirty="0"/>
              <a:t>)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var lecturer = await _</a:t>
            </a:r>
            <a:r>
              <a:rPr lang="en-ZA" sz="1500" dirty="0" err="1"/>
              <a:t>context.Lecturers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	.</a:t>
            </a:r>
            <a:r>
              <a:rPr lang="en-ZA" sz="1500" dirty="0" err="1"/>
              <a:t>FirstOrDefaultAsync</a:t>
            </a:r>
            <a:r>
              <a:rPr lang="en-ZA" sz="1500" dirty="0"/>
              <a:t>(l =&gt; </a:t>
            </a:r>
            <a:r>
              <a:rPr lang="en-ZA" sz="1500" dirty="0" err="1"/>
              <a:t>l.Email</a:t>
            </a:r>
            <a:r>
              <a:rPr lang="en-ZA" sz="1500" dirty="0"/>
              <a:t> == </a:t>
            </a:r>
            <a:r>
              <a:rPr lang="en-ZA" sz="1500" dirty="0" err="1"/>
              <a:t>userEmail</a:t>
            </a:r>
            <a:r>
              <a:rPr lang="en-ZA" sz="1500" dirty="0"/>
              <a:t>);</a:t>
            </a:r>
          </a:p>
          <a:p>
            <a:pPr marL="0" indent="0">
              <a:buNone/>
            </a:pPr>
            <a:r>
              <a:rPr lang="en-ZA" sz="1500" dirty="0"/>
              <a:t>var model = new </a:t>
            </a:r>
            <a:r>
              <a:rPr lang="en-ZA" sz="1500" dirty="0" err="1"/>
              <a:t>ClaimSubmissionViewModel</a:t>
            </a:r>
            <a:endParaRPr lang="en-ZA" sz="1500" dirty="0"/>
          </a:p>
          <a:p>
            <a:pPr marL="0" indent="0">
              <a:buNone/>
            </a:pPr>
            <a:r>
              <a:rPr lang="en-ZA" sz="1500" dirty="0"/>
              <a:t>{</a:t>
            </a:r>
          </a:p>
          <a:p>
            <a:pPr marL="457200" lvl="1" indent="0">
              <a:buNone/>
            </a:pPr>
            <a:r>
              <a:rPr lang="en-ZA" sz="1100" dirty="0" err="1"/>
              <a:t>HourlyRate</a:t>
            </a:r>
            <a:r>
              <a:rPr lang="en-ZA" sz="1100" dirty="0"/>
              <a:t> = </a:t>
            </a:r>
            <a:r>
              <a:rPr lang="en-ZA" sz="1100" dirty="0" err="1"/>
              <a:t>lecturer.HourlyRate</a:t>
            </a:r>
            <a:r>
              <a:rPr lang="en-ZA" sz="1100" dirty="0"/>
              <a:t>, // Auto-filled, read-only</a:t>
            </a:r>
          </a:p>
          <a:p>
            <a:pPr marL="457200" lvl="1" indent="0">
              <a:buNone/>
            </a:pPr>
            <a:r>
              <a:rPr lang="en-ZA" sz="1100" dirty="0" err="1"/>
              <a:t>TotalHours</a:t>
            </a:r>
            <a:r>
              <a:rPr lang="en-ZA" sz="1100" dirty="0"/>
              <a:t> = 0</a:t>
            </a:r>
          </a:p>
          <a:p>
            <a:pPr marL="0" indent="0">
              <a:buNone/>
            </a:pPr>
            <a:r>
              <a:rPr lang="en-ZA" sz="1500" dirty="0"/>
              <a:t>};</a:t>
            </a:r>
            <a:br>
              <a:rPr lang="en-ZA" sz="1500" dirty="0"/>
            </a:br>
            <a:endParaRPr lang="en-ZA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5229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824A-B457-5939-D25B-733F99F0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20000"/>
          </a:xfrm>
        </p:spPr>
        <p:txBody>
          <a:bodyPr>
            <a:noAutofit/>
          </a:bodyPr>
          <a:lstStyle/>
          <a:p>
            <a:r>
              <a:rPr lang="en-ZA" sz="3000" b="1" dirty="0"/>
              <a:t>Feedback #2 - Lecturer Claim Submission Automation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C2A09-C7F5-BC59-8C3D-FB1B6321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38518"/>
            <a:ext cx="9905999" cy="445268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908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65</TotalTime>
  <Words>464</Words>
  <Application>Microsoft Macintosh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Part 3: Application Enhancement &amp; Automation</vt:lpstr>
      <vt:lpstr>Agenda</vt:lpstr>
      <vt:lpstr>Part 2 to Part 3 - What Changed?</vt:lpstr>
      <vt:lpstr>Feedback #1 - Two-Stage Approval Workflow</vt:lpstr>
      <vt:lpstr>Feedback #1 - Two-Stage Approval Workflow</vt:lpstr>
      <vt:lpstr>Feedback 1 Screenshot</vt:lpstr>
      <vt:lpstr>Part 3 - Lecturer Claim Submission Automation</vt:lpstr>
      <vt:lpstr>Feedback #2 - Lecturer Claim Submission Automation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Aliyu Haidar II</dc:creator>
  <cp:lastModifiedBy>Aliyu Haidar II</cp:lastModifiedBy>
  <cp:revision>2</cp:revision>
  <dcterms:created xsi:type="dcterms:W3CDTF">2025-11-21T09:14:30Z</dcterms:created>
  <dcterms:modified xsi:type="dcterms:W3CDTF">2025-11-21T10:19:58Z</dcterms:modified>
</cp:coreProperties>
</file>